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25804"/>
            <a:ext cx="10058400" cy="5684520"/>
            <a:chOff x="0" y="1025804"/>
            <a:chExt cx="10058400" cy="5684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25804"/>
              <a:ext cx="10058400" cy="56840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0217" y="2582217"/>
              <a:ext cx="5638182" cy="29971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055878" y="2829137"/>
            <a:ext cx="4519930" cy="23444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 marR="30480">
              <a:lnSpc>
                <a:spcPct val="105600"/>
              </a:lnSpc>
              <a:spcBef>
                <a:spcPts val="114"/>
              </a:spcBef>
            </a:pP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3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characteristics</a:t>
            </a:r>
            <a:r>
              <a:rPr sz="900" spc="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A0A0A0"/>
                </a:solidFill>
                <a:latin typeface="Times New Roman"/>
                <a:cs typeface="Times New Roman"/>
              </a:rPr>
              <a:t>ofVR</a:t>
            </a:r>
            <a:r>
              <a:rPr sz="900" spc="15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vary</a:t>
            </a:r>
            <a:r>
              <a:rPr sz="900" spc="3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across</a:t>
            </a:r>
            <a:r>
              <a:rPr sz="900" spc="7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age</a:t>
            </a:r>
            <a:r>
              <a:rPr sz="900" spc="1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groups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reflect</a:t>
            </a:r>
            <a:r>
              <a:rPr sz="900" spc="3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specific</a:t>
            </a:r>
            <a:r>
              <a:rPr sz="900" spc="500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vulnerabilities</a:t>
            </a:r>
            <a:r>
              <a:rPr sz="900" spc="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in</a:t>
            </a:r>
            <a:r>
              <a:rPr sz="900" spc="48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patient</a:t>
            </a:r>
            <a:r>
              <a:rPr sz="900" spc="33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populations.</a:t>
            </a:r>
            <a:r>
              <a:rPr sz="900" spc="12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Two</a:t>
            </a:r>
            <a:r>
              <a:rPr sz="90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published</a:t>
            </a:r>
            <a:r>
              <a:rPr sz="900" spc="3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case</a:t>
            </a:r>
            <a:r>
              <a:rPr sz="90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reports</a:t>
            </a:r>
            <a:r>
              <a:rPr sz="900" spc="2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describe</a:t>
            </a:r>
            <a:r>
              <a:rPr sz="900" spc="19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cervical</a:t>
            </a:r>
            <a:r>
              <a:rPr sz="900" spc="500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spine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1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featuring</a:t>
            </a:r>
            <a:r>
              <a:rPr sz="900" spc="20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patients</a:t>
            </a:r>
            <a:r>
              <a:rPr sz="900" spc="14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</a:t>
            </a:r>
            <a:r>
              <a:rPr sz="900" spc="3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40" dirty="0">
                <a:solidFill>
                  <a:srgbClr val="909090"/>
                </a:solidFill>
                <a:latin typeface="Times New Roman"/>
                <a:cs typeface="Times New Roman"/>
              </a:rPr>
              <a:t>SS+</a:t>
            </a:r>
            <a:r>
              <a:rPr sz="90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age</a:t>
            </a:r>
            <a:r>
              <a:rPr sz="90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group,</a:t>
            </a:r>
            <a:r>
              <a:rPr sz="90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which</a:t>
            </a:r>
            <a:r>
              <a:rPr sz="900" spc="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is</a:t>
            </a:r>
            <a:r>
              <a:rPr sz="900" spc="2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consistent</a:t>
            </a:r>
            <a:r>
              <a:rPr sz="900" spc="20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with</a:t>
            </a:r>
            <a:r>
              <a:rPr sz="90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injury </a:t>
            </a:r>
            <a:r>
              <a:rPr sz="900" spc="50" dirty="0">
                <a:solidFill>
                  <a:srgbClr val="7C7C7C"/>
                </a:solidFill>
                <a:latin typeface="Times New Roman"/>
                <a:cs typeface="Times New Roman"/>
              </a:rPr>
              <a:t>patterns</a:t>
            </a:r>
            <a:r>
              <a:rPr sz="900" spc="7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associated</a:t>
            </a:r>
            <a:r>
              <a:rPr sz="900" spc="2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with</a:t>
            </a:r>
            <a:r>
              <a:rPr sz="90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age-related</a:t>
            </a:r>
            <a:r>
              <a:rPr sz="900" spc="2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degenerative</a:t>
            </a:r>
            <a:r>
              <a:rPr sz="90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spine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disease</a:t>
            </a:r>
            <a:r>
              <a:rPr sz="900" spc="21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75" spc="112" baseline="29914" dirty="0">
                <a:solidFill>
                  <a:srgbClr val="72AFD8"/>
                </a:solidFill>
                <a:latin typeface="Times New Roman"/>
                <a:cs typeface="Times New Roman"/>
              </a:rPr>
              <a:t>5</a:t>
            </a:r>
            <a:r>
              <a:rPr sz="650" spc="75" dirty="0">
                <a:solidFill>
                  <a:srgbClr val="A0A0A0"/>
                </a:solidFill>
                <a:latin typeface="Times New Roman"/>
                <a:cs typeface="Times New Roman"/>
              </a:rPr>
              <a:t>•</a:t>
            </a:r>
            <a:r>
              <a:rPr sz="975" spc="112" baseline="29914" dirty="0">
                <a:solidFill>
                  <a:srgbClr val="72AFD8"/>
                </a:solidFill>
                <a:latin typeface="Times New Roman"/>
                <a:cs typeface="Times New Roman"/>
              </a:rPr>
              <a:t>6</a:t>
            </a:r>
            <a:r>
              <a:rPr sz="650" spc="75" dirty="0">
                <a:solidFill>
                  <a:srgbClr val="666666"/>
                </a:solidFill>
                <a:latin typeface="Times New Roman"/>
                <a:cs typeface="Times New Roman"/>
              </a:rPr>
              <a:t>.</a:t>
            </a:r>
            <a:r>
              <a:rPr sz="650" spc="26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900" spc="70" dirty="0">
                <a:solidFill>
                  <a:srgbClr val="909090"/>
                </a:solidFill>
                <a:latin typeface="Times New Roman"/>
                <a:cs typeface="Times New Roman"/>
              </a:rPr>
              <a:t>Ourstudy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found</a:t>
            </a:r>
            <a:r>
              <a:rPr sz="90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50" dirty="0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 disproportionate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incidence</a:t>
            </a:r>
            <a:r>
              <a:rPr sz="90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900" spc="2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rib</a:t>
            </a:r>
            <a:r>
              <a:rPr sz="90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7C7C7C"/>
                </a:solidFill>
                <a:latin typeface="Times New Roman"/>
                <a:cs typeface="Times New Roman"/>
              </a:rPr>
              <a:t>in</a:t>
            </a:r>
            <a:r>
              <a:rPr sz="900" spc="34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patients</a:t>
            </a:r>
            <a:r>
              <a:rPr sz="900" spc="1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over</a:t>
            </a:r>
            <a:r>
              <a:rPr sz="900" spc="12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SS,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although</a:t>
            </a:r>
            <a:r>
              <a:rPr sz="900" spc="14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</a:t>
            </a:r>
            <a:r>
              <a:rPr sz="900" dirty="0">
                <a:solidFill>
                  <a:srgbClr val="666666"/>
                </a:solidFill>
                <a:latin typeface="Times New Roman"/>
                <a:cs typeface="Times New Roman"/>
              </a:rPr>
              <a:t>ld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er</a:t>
            </a:r>
            <a:r>
              <a:rPr sz="900" spc="2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adults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909090"/>
                </a:solidFill>
                <a:latin typeface="Times New Roman"/>
                <a:cs typeface="Times New Roman"/>
              </a:rPr>
              <a:t>only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represent</a:t>
            </a:r>
            <a:r>
              <a:rPr sz="900" spc="9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8.9%</a:t>
            </a:r>
            <a:r>
              <a:rPr sz="900" spc="114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900" spc="2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4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patient</a:t>
            </a:r>
            <a:r>
              <a:rPr sz="900" spc="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sample.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65" dirty="0">
                <a:solidFill>
                  <a:srgbClr val="7C7C7C"/>
                </a:solidFill>
                <a:latin typeface="Times New Roman"/>
                <a:cs typeface="Times New Roman"/>
              </a:rPr>
              <a:t>This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highlights</a:t>
            </a:r>
            <a:r>
              <a:rPr sz="900" spc="33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increased</a:t>
            </a:r>
            <a:r>
              <a:rPr sz="900" spc="3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risk</a:t>
            </a:r>
            <a:r>
              <a:rPr sz="90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for</a:t>
            </a:r>
            <a:r>
              <a:rPr sz="90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A0A0A0"/>
                </a:solidFill>
                <a:latin typeface="Times New Roman"/>
                <a:cs typeface="Times New Roman"/>
              </a:rPr>
              <a:t>skeletal</a:t>
            </a:r>
            <a:r>
              <a:rPr sz="900" spc="50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injuries</a:t>
            </a:r>
            <a:r>
              <a:rPr sz="900" spc="12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with</a:t>
            </a:r>
            <a:r>
              <a:rPr sz="900" spc="18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advanced</a:t>
            </a:r>
            <a:r>
              <a:rPr sz="900" spc="3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age,</a:t>
            </a:r>
            <a:r>
              <a:rPr sz="900" spc="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although</a:t>
            </a:r>
            <a:r>
              <a:rPr sz="900" spc="1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fractures</a:t>
            </a:r>
            <a:r>
              <a:rPr sz="90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are</a:t>
            </a:r>
            <a:r>
              <a:rPr sz="90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commonly</a:t>
            </a:r>
            <a:r>
              <a:rPr sz="900" spc="21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experienced</a:t>
            </a:r>
            <a:r>
              <a:rPr sz="900" spc="38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909090"/>
                </a:solidFill>
                <a:latin typeface="Times New Roman"/>
                <a:cs typeface="Times New Roman"/>
              </a:rPr>
              <a:t>among</a:t>
            </a:r>
            <a:r>
              <a:rPr sz="90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all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age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 categories.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On</a:t>
            </a:r>
            <a:r>
              <a:rPr sz="900" spc="22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2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909090"/>
                </a:solidFill>
                <a:latin typeface="Times New Roman"/>
                <a:cs typeface="Times New Roman"/>
              </a:rPr>
              <a:t>other 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end</a:t>
            </a:r>
            <a:r>
              <a:rPr sz="90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90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900" spc="2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age</a:t>
            </a:r>
            <a:r>
              <a:rPr sz="90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spectrum,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youngest</a:t>
            </a:r>
            <a:r>
              <a:rPr sz="900" spc="2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patients</a:t>
            </a:r>
            <a:r>
              <a:rPr sz="900" spc="2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(0-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S}</a:t>
            </a:r>
            <a:r>
              <a:rPr sz="900" spc="500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experienced</a:t>
            </a:r>
            <a:r>
              <a:rPr sz="900" spc="2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facial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1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were</a:t>
            </a:r>
            <a:r>
              <a:rPr sz="90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more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likely</a:t>
            </a:r>
            <a:r>
              <a:rPr sz="90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to</a:t>
            </a:r>
            <a:r>
              <a:rPr sz="900" spc="19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be</a:t>
            </a:r>
            <a:r>
              <a:rPr sz="90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bystanders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900" spc="1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family</a:t>
            </a:r>
            <a:r>
              <a:rPr sz="90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40" dirty="0">
                <a:solidFill>
                  <a:srgbClr val="A0A0A0"/>
                </a:solidFill>
                <a:latin typeface="Times New Roman"/>
                <a:cs typeface="Times New Roman"/>
              </a:rPr>
              <a:t>members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using</a:t>
            </a:r>
            <a:r>
              <a:rPr sz="90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7C7C7C"/>
                </a:solidFill>
                <a:latin typeface="Times New Roman"/>
                <a:cs typeface="Times New Roman"/>
              </a:rPr>
              <a:t>VR</a:t>
            </a:r>
            <a:r>
              <a:rPr sz="900" spc="11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devices.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These</a:t>
            </a:r>
            <a:r>
              <a:rPr sz="900" spc="1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second-hand</a:t>
            </a:r>
            <a:r>
              <a:rPr sz="900" spc="20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90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clude</a:t>
            </a:r>
            <a:r>
              <a:rPr sz="900" spc="3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patients</a:t>
            </a:r>
            <a:r>
              <a:rPr sz="900" spc="3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being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hit</a:t>
            </a:r>
            <a:r>
              <a:rPr sz="900" spc="4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with</a:t>
            </a:r>
            <a:r>
              <a:rPr sz="90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90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hand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controllers</a:t>
            </a:r>
            <a:r>
              <a:rPr sz="900" spc="2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4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like.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4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possibility</a:t>
            </a:r>
            <a:r>
              <a:rPr sz="900" spc="1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for</a:t>
            </a:r>
            <a:r>
              <a:rPr sz="900" spc="4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bystander</a:t>
            </a:r>
            <a:r>
              <a:rPr sz="900" spc="254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90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demonstrates</a:t>
            </a:r>
            <a:r>
              <a:rPr sz="900" spc="2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an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 underlying</a:t>
            </a:r>
            <a:r>
              <a:rPr sz="900" spc="2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problem</a:t>
            </a:r>
            <a:r>
              <a:rPr sz="90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7C7C7C"/>
                </a:solidFill>
                <a:latin typeface="Times New Roman"/>
                <a:cs typeface="Times New Roman"/>
              </a:rPr>
              <a:t>that</a:t>
            </a:r>
            <a:r>
              <a:rPr sz="900" spc="3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is</a:t>
            </a:r>
            <a:r>
              <a:rPr sz="90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likely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to</a:t>
            </a:r>
            <a:r>
              <a:rPr sz="90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lead</a:t>
            </a:r>
            <a:r>
              <a:rPr sz="900" spc="20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to</a:t>
            </a:r>
            <a:r>
              <a:rPr sz="900" spc="1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injury:</a:t>
            </a:r>
            <a:r>
              <a:rPr sz="900" spc="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900" spc="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device</a:t>
            </a:r>
            <a:r>
              <a:rPr sz="900" spc="14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operation</a:t>
            </a:r>
            <a:r>
              <a:rPr sz="90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involves</a:t>
            </a:r>
            <a:r>
              <a:rPr sz="900" spc="1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entire</a:t>
            </a:r>
            <a:r>
              <a:rPr sz="900" spc="10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body,</a:t>
            </a:r>
            <a:r>
              <a:rPr sz="900" spc="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3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they</a:t>
            </a:r>
            <a:r>
              <a:rPr sz="900" spc="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are</a:t>
            </a:r>
            <a:r>
              <a:rPr sz="90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909090"/>
                </a:solidFill>
                <a:latin typeface="Times New Roman"/>
                <a:cs typeface="Times New Roman"/>
              </a:rPr>
              <a:t>most</a:t>
            </a:r>
            <a:r>
              <a:rPr sz="90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oflen</a:t>
            </a:r>
            <a:r>
              <a:rPr sz="90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used</a:t>
            </a:r>
            <a:r>
              <a:rPr sz="90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</a:t>
            </a:r>
            <a:r>
              <a:rPr sz="90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enclosed</a:t>
            </a:r>
            <a:r>
              <a:rPr sz="90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spaces,</a:t>
            </a:r>
            <a:r>
              <a:rPr sz="900" spc="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such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909090"/>
                </a:solidFill>
                <a:latin typeface="Times New Roman"/>
                <a:cs typeface="Times New Roman"/>
              </a:rPr>
              <a:t>as</a:t>
            </a:r>
            <a:r>
              <a:rPr sz="90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bedrooms</a:t>
            </a:r>
            <a:r>
              <a:rPr sz="900" spc="11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A0A0A0"/>
                </a:solidFill>
                <a:latin typeface="Times New Roman"/>
                <a:cs typeface="Times New Roman"/>
              </a:rPr>
              <a:t>and</a:t>
            </a:r>
            <a:r>
              <a:rPr sz="900" spc="50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living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rooms.The</a:t>
            </a:r>
            <a:r>
              <a:rPr sz="90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909090"/>
                </a:solidFill>
                <a:latin typeface="Times New Roman"/>
                <a:cs typeface="Times New Roman"/>
              </a:rPr>
              <a:t>two</a:t>
            </a:r>
            <a:r>
              <a:rPr sz="90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most</a:t>
            </a:r>
            <a:r>
              <a:rPr sz="900" spc="11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60" dirty="0">
                <a:solidFill>
                  <a:srgbClr val="A0A0A0"/>
                </a:solidFill>
                <a:latin typeface="Times New Roman"/>
                <a:cs typeface="Times New Roman"/>
              </a:rPr>
              <a:t>common</a:t>
            </a:r>
            <a:r>
              <a:rPr sz="900" spc="7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diagnoses</a:t>
            </a:r>
            <a:r>
              <a:rPr sz="900" spc="5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</a:t>
            </a:r>
            <a:r>
              <a:rPr sz="900" spc="2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2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909090"/>
                </a:solidFill>
                <a:latin typeface="Times New Roman"/>
                <a:cs typeface="Times New Roman"/>
              </a:rPr>
              <a:t>NEISS</a:t>
            </a:r>
            <a:r>
              <a:rPr sz="900" spc="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C7C7C"/>
                </a:solidFill>
                <a:latin typeface="Times New Roman"/>
                <a:cs typeface="Times New Roman"/>
              </a:rPr>
              <a:t>data</a:t>
            </a:r>
            <a:r>
              <a:rPr sz="900" spc="16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associated</a:t>
            </a:r>
            <a:r>
              <a:rPr sz="900" spc="2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with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 devices</a:t>
            </a:r>
            <a:r>
              <a:rPr sz="90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are</a:t>
            </a:r>
            <a:r>
              <a:rPr sz="900" spc="3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fractures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3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lacerations.</a:t>
            </a:r>
            <a:r>
              <a:rPr sz="900" spc="3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Injury</a:t>
            </a:r>
            <a:r>
              <a:rPr sz="900" spc="1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narratives</a:t>
            </a:r>
            <a:r>
              <a:rPr sz="900" spc="2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describe</a:t>
            </a:r>
            <a:r>
              <a:rPr sz="900" spc="2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900" spc="3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mechanisms</a:t>
            </a:r>
            <a:r>
              <a:rPr sz="900" spc="1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A0A0A0"/>
                </a:solidFill>
                <a:latin typeface="Times New Roman"/>
                <a:cs typeface="Times New Roman"/>
              </a:rPr>
              <a:t>of</a:t>
            </a:r>
            <a:r>
              <a:rPr sz="900" spc="500" dirty="0">
                <a:solidFill>
                  <a:srgbClr val="A0A0A0"/>
                </a:solidFill>
                <a:latin typeface="Times New Roman"/>
                <a:cs typeface="Times New Roman"/>
              </a:rPr>
              <a:t> 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injury</a:t>
            </a:r>
            <a:r>
              <a:rPr sz="90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as</a:t>
            </a:r>
            <a:r>
              <a:rPr sz="900" spc="10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sz="90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result</a:t>
            </a:r>
            <a:r>
              <a:rPr sz="90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A0A0A0"/>
                </a:solidFill>
                <a:latin typeface="Times New Roman"/>
                <a:cs typeface="Times New Roman"/>
              </a:rPr>
              <a:t>of</a:t>
            </a:r>
            <a:r>
              <a:rPr sz="900" spc="8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collisions</a:t>
            </a:r>
            <a:r>
              <a:rPr sz="900" spc="19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with</a:t>
            </a:r>
            <a:r>
              <a:rPr sz="900" spc="20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walls,</a:t>
            </a:r>
            <a:r>
              <a:rPr sz="90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windows,</a:t>
            </a:r>
            <a:r>
              <a:rPr sz="90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tables,</a:t>
            </a:r>
            <a:r>
              <a:rPr sz="900" spc="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beds,</a:t>
            </a:r>
            <a:r>
              <a:rPr sz="900" spc="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fans,</a:t>
            </a:r>
            <a:r>
              <a:rPr sz="900" spc="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900" spc="2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A0A0A0"/>
                </a:solidFill>
                <a:latin typeface="Times New Roman"/>
                <a:cs typeface="Times New Roman"/>
              </a:rPr>
              <a:t>similar</a:t>
            </a:r>
            <a:r>
              <a:rPr sz="900" spc="17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A0A0A0"/>
                </a:solidFill>
                <a:latin typeface="Times New Roman"/>
                <a:cs typeface="Times New Roman"/>
              </a:rPr>
              <a:t>objects.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554" y="2631738"/>
            <a:ext cx="3786504" cy="942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" marR="30480" indent="-1270">
              <a:lnSpc>
                <a:spcPct val="100000"/>
              </a:lnSpc>
              <a:spcBef>
                <a:spcPts val="105"/>
              </a:spcBef>
            </a:pP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Virtual</a:t>
            </a:r>
            <a:r>
              <a:rPr sz="1200" b="1" spc="15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reality</a:t>
            </a:r>
            <a:r>
              <a:rPr sz="1200" b="1" spc="8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44444"/>
                </a:solidFill>
                <a:latin typeface="Times New Roman"/>
                <a:cs typeface="Times New Roman"/>
              </a:rPr>
              <a:t>consumer</a:t>
            </a:r>
            <a:r>
              <a:rPr sz="1200" b="1" spc="17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product</a:t>
            </a:r>
            <a:r>
              <a:rPr sz="1200" b="1" spc="204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injuries:</a:t>
            </a:r>
            <a:r>
              <a:rPr sz="1200" b="1" spc="6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An</a:t>
            </a:r>
            <a:r>
              <a:rPr sz="1200" b="1" spc="-3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spc="40" dirty="0">
                <a:solidFill>
                  <a:srgbClr val="444444"/>
                </a:solidFill>
                <a:latin typeface="Times New Roman"/>
                <a:cs typeface="Times New Roman"/>
              </a:rPr>
              <a:t>analysis </a:t>
            </a:r>
            <a:r>
              <a:rPr sz="1200" b="1" dirty="0">
                <a:solidFill>
                  <a:srgbClr val="444444"/>
                </a:solidFill>
                <a:latin typeface="Times New Roman"/>
                <a:cs typeface="Times New Roman"/>
              </a:rPr>
              <a:t>of</a:t>
            </a:r>
            <a:r>
              <a:rPr sz="1200" b="1" spc="3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national</a:t>
            </a:r>
            <a:r>
              <a:rPr sz="1200" b="1" spc="24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44444"/>
                </a:solidFill>
                <a:latin typeface="Times New Roman"/>
                <a:cs typeface="Times New Roman"/>
              </a:rPr>
              <a:t>emergency</a:t>
            </a:r>
            <a:r>
              <a:rPr sz="1200" b="1" spc="2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4"/>
                </a:solidFill>
                <a:latin typeface="Times New Roman"/>
                <a:cs typeface="Times New Roman"/>
              </a:rPr>
              <a:t>department</a:t>
            </a:r>
            <a:r>
              <a:rPr sz="1200" b="1" spc="360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343434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985"/>
              </a:spcBef>
            </a:pP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Daniel</a:t>
            </a:r>
            <a:r>
              <a:rPr sz="650" spc="25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J Cucher</a:t>
            </a:r>
            <a:r>
              <a:rPr sz="650" spc="95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825" baseline="25252" dirty="0">
                <a:solidFill>
                  <a:srgbClr val="909090"/>
                </a:solidFill>
                <a:latin typeface="Times New Roman"/>
                <a:cs typeface="Times New Roman"/>
              </a:rPr>
              <a:t>1</a:t>
            </a:r>
            <a:r>
              <a:rPr sz="825" spc="-89" baseline="25252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550" spc="140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Me</a:t>
            </a:r>
            <a:r>
              <a:rPr sz="650" dirty="0">
                <a:solidFill>
                  <a:srgbClr val="4D9CCF"/>
                </a:solidFill>
                <a:latin typeface="Times New Roman"/>
                <a:cs typeface="Times New Roman"/>
              </a:rPr>
              <a:t>li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ssa</a:t>
            </a:r>
            <a:r>
              <a:rPr sz="650" spc="85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S</a:t>
            </a:r>
            <a:r>
              <a:rPr sz="650" spc="75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Kovacs</a:t>
            </a:r>
            <a:r>
              <a:rPr sz="650" spc="80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825" spc="75" baseline="25252" dirty="0">
                <a:solidFill>
                  <a:srgbClr val="909090"/>
                </a:solidFill>
                <a:latin typeface="Times New Roman"/>
                <a:cs typeface="Times New Roman"/>
              </a:rPr>
              <a:t>2</a:t>
            </a:r>
            <a:r>
              <a:rPr sz="550" spc="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550" spc="60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Clarence</a:t>
            </a:r>
            <a:r>
              <a:rPr sz="650" spc="40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spc="-60" dirty="0">
                <a:solidFill>
                  <a:srgbClr val="4D9CCF"/>
                </a:solidFill>
                <a:latin typeface="Times New Roman"/>
                <a:cs typeface="Times New Roman"/>
              </a:rPr>
              <a:t>E</a:t>
            </a:r>
            <a:r>
              <a:rPr sz="650" spc="-55" dirty="0">
                <a:solidFill>
                  <a:srgbClr val="4D9CCF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C</a:t>
            </a:r>
            <a:r>
              <a:rPr sz="650" dirty="0">
                <a:solidFill>
                  <a:srgbClr val="4D9CCF"/>
                </a:solidFill>
                <a:latin typeface="Times New Roman"/>
                <a:cs typeface="Times New Roman"/>
              </a:rPr>
              <a:t>l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ark</a:t>
            </a:r>
            <a:r>
              <a:rPr sz="650" spc="114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825" baseline="25252" dirty="0">
                <a:solidFill>
                  <a:srgbClr val="909090"/>
                </a:solidFill>
                <a:latin typeface="Times New Roman"/>
                <a:cs typeface="Times New Roman"/>
              </a:rPr>
              <a:t>3</a:t>
            </a:r>
            <a:r>
              <a:rPr sz="5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550" spc="10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Charles</a:t>
            </a:r>
            <a:r>
              <a:rPr sz="650" spc="40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spc="-70" dirty="0">
                <a:solidFill>
                  <a:srgbClr val="72AFD8"/>
                </a:solidFill>
                <a:latin typeface="Times New Roman"/>
                <a:cs typeface="Times New Roman"/>
              </a:rPr>
              <a:t>K</a:t>
            </a:r>
            <a:r>
              <a:rPr sz="650" spc="35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P</a:t>
            </a:r>
            <a:r>
              <a:rPr sz="650" spc="90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2AFD8"/>
                </a:solidFill>
                <a:latin typeface="Times New Roman"/>
                <a:cs typeface="Times New Roman"/>
              </a:rPr>
              <a:t>Hu</a:t>
            </a:r>
            <a:r>
              <a:rPr sz="650" spc="130" dirty="0">
                <a:solidFill>
                  <a:srgbClr val="72AFD8"/>
                </a:solidFill>
                <a:latin typeface="Times New Roman"/>
                <a:cs typeface="Times New Roman"/>
              </a:rPr>
              <a:t> </a:t>
            </a:r>
            <a:r>
              <a:rPr sz="825" spc="-75" baseline="25252" dirty="0">
                <a:solidFill>
                  <a:srgbClr val="909090"/>
                </a:solidFill>
                <a:latin typeface="Times New Roman"/>
                <a:cs typeface="Times New Roman"/>
              </a:rPr>
              <a:t>2</a:t>
            </a:r>
            <a:endParaRPr sz="825" baseline="25252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360"/>
              </a:spcBef>
            </a:pP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Affiliations</a:t>
            </a:r>
            <a:r>
              <a:rPr sz="650" spc="2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666666"/>
                </a:solidFill>
                <a:latin typeface="Arial"/>
                <a:cs typeface="Arial"/>
              </a:rPr>
              <a:t>+</a:t>
            </a:r>
            <a:r>
              <a:rPr sz="1000" spc="-6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A0A0A0"/>
                </a:solidFill>
                <a:latin typeface="Times New Roman"/>
                <a:cs typeface="Times New Roman"/>
              </a:rPr>
              <a:t>expand</a:t>
            </a:r>
            <a:endParaRPr sz="65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225"/>
              </a:spcBef>
            </a:pPr>
            <a:r>
              <a:rPr sz="650" spc="-20" dirty="0">
                <a:solidFill>
                  <a:srgbClr val="7C7C7C"/>
                </a:solidFill>
                <a:latin typeface="Times New Roman"/>
                <a:cs typeface="Times New Roman"/>
              </a:rPr>
              <a:t>PM</a:t>
            </a:r>
            <a:r>
              <a:rPr sz="650" spc="-20" dirty="0">
                <a:solidFill>
                  <a:srgbClr val="444444"/>
                </a:solidFill>
                <a:latin typeface="Times New Roman"/>
                <a:cs typeface="Times New Roman"/>
              </a:rPr>
              <a:t>I</a:t>
            </a:r>
            <a:r>
              <a:rPr sz="650" spc="-20" dirty="0">
                <a:solidFill>
                  <a:srgbClr val="909090"/>
                </a:solidFill>
                <a:latin typeface="Times New Roman"/>
                <a:cs typeface="Times New Roman"/>
              </a:rPr>
              <a:t>D:</a:t>
            </a:r>
            <a:r>
              <a:rPr sz="650" spc="-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36803922</a:t>
            </a:r>
            <a:r>
              <a:rPr sz="650" spc="235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650" spc="-30" dirty="0">
                <a:solidFill>
                  <a:srgbClr val="909090"/>
                </a:solidFill>
                <a:latin typeface="Times New Roman"/>
                <a:cs typeface="Times New Roman"/>
              </a:rPr>
              <a:t>DOI: </a:t>
            </a:r>
            <a:r>
              <a:rPr sz="650" spc="-10" dirty="0">
                <a:solidFill>
                  <a:srgbClr val="4D9CCF"/>
                </a:solidFill>
                <a:latin typeface="Times New Roman"/>
                <a:cs typeface="Times New Roman"/>
              </a:rPr>
              <a:t>1</a:t>
            </a:r>
            <a:r>
              <a:rPr sz="650" spc="-10" dirty="0">
                <a:solidFill>
                  <a:srgbClr val="72AFD8"/>
                </a:solidFill>
                <a:latin typeface="Times New Roman"/>
                <a:cs typeface="Times New Roman"/>
              </a:rPr>
              <a:t>0</a:t>
            </a:r>
            <a:r>
              <a:rPr sz="650" spc="-10" dirty="0">
                <a:solidFill>
                  <a:srgbClr val="95C3E2"/>
                </a:solidFill>
                <a:latin typeface="Times New Roman"/>
                <a:cs typeface="Times New Roman"/>
              </a:rPr>
              <a:t>.</a:t>
            </a:r>
            <a:r>
              <a:rPr sz="650" spc="-10" dirty="0">
                <a:solidFill>
                  <a:srgbClr val="72AFD8"/>
                </a:solidFill>
                <a:latin typeface="Times New Roman"/>
                <a:cs typeface="Times New Roman"/>
              </a:rPr>
              <a:t>10</a:t>
            </a:r>
            <a:r>
              <a:rPr sz="650" spc="-10" dirty="0">
                <a:solidFill>
                  <a:srgbClr val="4D9CCF"/>
                </a:solidFill>
                <a:latin typeface="Times New Roman"/>
                <a:cs typeface="Times New Roman"/>
              </a:rPr>
              <a:t>1</a:t>
            </a:r>
            <a:r>
              <a:rPr sz="650" spc="-10" dirty="0">
                <a:solidFill>
                  <a:srgbClr val="72AFD8"/>
                </a:solidFill>
                <a:latin typeface="Times New Roman"/>
                <a:cs typeface="Times New Roman"/>
              </a:rPr>
              <a:t>6/j.inJury.2023</a:t>
            </a:r>
            <a:r>
              <a:rPr sz="650" spc="-10" dirty="0">
                <a:solidFill>
                  <a:srgbClr val="95C3E2"/>
                </a:solidFill>
                <a:latin typeface="Times New Roman"/>
                <a:cs typeface="Times New Roman"/>
              </a:rPr>
              <a:t>.</a:t>
            </a:r>
            <a:r>
              <a:rPr sz="650" spc="-10" dirty="0">
                <a:solidFill>
                  <a:srgbClr val="72AFD8"/>
                </a:solidFill>
                <a:latin typeface="Times New Roman"/>
                <a:cs typeface="Times New Roman"/>
              </a:rPr>
              <a:t>01.030</a:t>
            </a:r>
            <a:r>
              <a:rPr sz="650" spc="-10" dirty="0">
                <a:solidFill>
                  <a:srgbClr val="4D9CCF"/>
                </a:solidFill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768" y="3926959"/>
            <a:ext cx="3650615" cy="6515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635">
              <a:lnSpc>
                <a:spcPct val="126099"/>
              </a:lnSpc>
              <a:spcBef>
                <a:spcPts val="110"/>
              </a:spcBef>
            </a:pPr>
            <a:r>
              <a:rPr sz="650" spc="45" dirty="0">
                <a:solidFill>
                  <a:srgbClr val="343434"/>
                </a:solidFill>
                <a:latin typeface="Times New Roman"/>
                <a:cs typeface="Times New Roman"/>
              </a:rPr>
              <a:t>Intr</a:t>
            </a:r>
            <a:r>
              <a:rPr sz="650" spc="45" dirty="0">
                <a:solidFill>
                  <a:srgbClr val="525252"/>
                </a:solidFill>
                <a:latin typeface="Times New Roman"/>
                <a:cs typeface="Times New Roman"/>
              </a:rPr>
              <a:t>oduct</a:t>
            </a:r>
            <a:r>
              <a:rPr sz="650" spc="45" dirty="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sz="650" spc="45" dirty="0">
                <a:solidFill>
                  <a:srgbClr val="525252"/>
                </a:solidFill>
                <a:latin typeface="Times New Roman"/>
                <a:cs typeface="Times New Roman"/>
              </a:rPr>
              <a:t>o</a:t>
            </a:r>
            <a:r>
              <a:rPr sz="650" spc="45" dirty="0">
                <a:solidFill>
                  <a:srgbClr val="343434"/>
                </a:solidFill>
                <a:latin typeface="Times New Roman"/>
                <a:cs typeface="Times New Roman"/>
              </a:rPr>
              <a:t>n</a:t>
            </a:r>
            <a:r>
              <a:rPr sz="650" spc="45" dirty="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sz="650" spc="4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6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g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r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ow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g</a:t>
            </a:r>
            <a:r>
              <a:rPr sz="650" spc="2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popu</a:t>
            </a:r>
            <a:r>
              <a:rPr sz="650" dirty="0">
                <a:solidFill>
                  <a:srgbClr val="343434"/>
                </a:solidFill>
                <a:latin typeface="Times New Roman"/>
                <a:cs typeface="Times New Roman"/>
              </a:rPr>
              <a:t>l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ar</a:t>
            </a:r>
            <a:r>
              <a:rPr sz="650" dirty="0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ty</a:t>
            </a:r>
            <a:r>
              <a:rPr sz="650" spc="7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of</a:t>
            </a:r>
            <a:r>
              <a:rPr sz="650" spc="18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virtual</a:t>
            </a:r>
            <a:r>
              <a:rPr sz="65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r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eality</a:t>
            </a:r>
            <a:r>
              <a:rPr sz="65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devices</a:t>
            </a:r>
            <a:r>
              <a:rPr sz="650" spc="2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n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</a:t>
            </a:r>
            <a:r>
              <a:rPr sz="65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increas</a:t>
            </a:r>
            <a:r>
              <a:rPr sz="650" dirty="0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ngly</a:t>
            </a:r>
            <a:r>
              <a:rPr sz="650" spc="4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7C7C7C"/>
                </a:solidFill>
                <a:latin typeface="Times New Roman"/>
                <a:cs typeface="Times New Roman"/>
              </a:rPr>
              <a:t>w</a:t>
            </a:r>
            <a:r>
              <a:rPr sz="650" spc="-10" dirty="0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despread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distribution</a:t>
            </a:r>
            <a:r>
              <a:rPr sz="65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1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35" dirty="0">
                <a:solidFill>
                  <a:srgbClr val="7C7C7C"/>
                </a:solidFill>
                <a:latin typeface="Times New Roman"/>
                <a:cs typeface="Times New Roman"/>
              </a:rPr>
              <a:t>VR</a:t>
            </a:r>
            <a:r>
              <a:rPr sz="650" spc="16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products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to</a:t>
            </a:r>
            <a:r>
              <a:rPr sz="650" spc="1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28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50" dirty="0">
                <a:solidFill>
                  <a:srgbClr val="909090"/>
                </a:solidFill>
                <a:latin typeface="Times New Roman"/>
                <a:cs typeface="Times New Roman"/>
              </a:rPr>
              <a:t>home</a:t>
            </a:r>
            <a:r>
              <a:rPr sz="650" spc="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exposes</a:t>
            </a:r>
            <a:r>
              <a:rPr sz="650" spc="11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users</a:t>
            </a:r>
            <a:r>
              <a:rPr sz="650" spc="3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to</a:t>
            </a:r>
            <a:r>
              <a:rPr sz="650" spc="19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risk</a:t>
            </a:r>
            <a:r>
              <a:rPr sz="65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2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bodily</a:t>
            </a:r>
            <a:r>
              <a:rPr sz="650" spc="8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harm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r>
              <a:rPr sz="650" spc="50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Safety</a:t>
            </a:r>
            <a:r>
              <a:rPr sz="650" spc="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features</a:t>
            </a:r>
            <a:r>
              <a:rPr sz="650" spc="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are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integrated</a:t>
            </a:r>
            <a:r>
              <a:rPr sz="650" spc="18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into</a:t>
            </a:r>
            <a:r>
              <a:rPr sz="650" spc="10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7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dev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i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ces</a:t>
            </a:r>
            <a:r>
              <a:rPr sz="650" spc="1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themselves,</a:t>
            </a:r>
            <a:r>
              <a:rPr sz="650" spc="2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but</a:t>
            </a:r>
            <a:r>
              <a:rPr sz="650" spc="22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650" spc="3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burden</a:t>
            </a:r>
            <a:r>
              <a:rPr sz="65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cautious</a:t>
            </a:r>
            <a:r>
              <a:rPr sz="65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use</a:t>
            </a:r>
            <a:r>
              <a:rPr sz="65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rests</a:t>
            </a:r>
            <a:r>
              <a:rPr sz="650" spc="13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upon</a:t>
            </a:r>
            <a:r>
              <a:rPr sz="650" spc="2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9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end</a:t>
            </a:r>
            <a:r>
              <a:rPr sz="650" spc="229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user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r>
              <a:rPr sz="650" spc="3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purpose</a:t>
            </a:r>
            <a:r>
              <a:rPr sz="65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1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this</a:t>
            </a:r>
            <a:r>
              <a:rPr sz="650" spc="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study</a:t>
            </a:r>
            <a:r>
              <a:rPr sz="65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is</a:t>
            </a:r>
            <a:r>
              <a:rPr sz="650" spc="3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to</a:t>
            </a:r>
            <a:r>
              <a:rPr sz="650" spc="204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quantify</a:t>
            </a:r>
            <a:r>
              <a:rPr sz="65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2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describe</a:t>
            </a:r>
            <a:r>
              <a:rPr sz="650" spc="9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21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array</a:t>
            </a:r>
            <a:r>
              <a:rPr sz="650" spc="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injuries</a:t>
            </a:r>
            <a:r>
              <a:rPr sz="650" spc="5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3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demographics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effected</a:t>
            </a:r>
            <a:r>
              <a:rPr sz="650" spc="3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by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31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burgeoning</a:t>
            </a:r>
            <a:r>
              <a:rPr sz="650" spc="1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60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650" spc="1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industry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to</a:t>
            </a:r>
            <a:r>
              <a:rPr sz="650" spc="21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inform</a:t>
            </a:r>
            <a:r>
              <a:rPr sz="650" spc="1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2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encourage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mitigation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strategies.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441" y="4610518"/>
            <a:ext cx="3746500" cy="651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2540">
              <a:lnSpc>
                <a:spcPct val="123700"/>
              </a:lnSpc>
              <a:spcBef>
                <a:spcPts val="125"/>
              </a:spcBef>
            </a:pPr>
            <a:r>
              <a:rPr sz="650" dirty="0">
                <a:solidFill>
                  <a:srgbClr val="444444"/>
                </a:solidFill>
                <a:latin typeface="Times New Roman"/>
                <a:cs typeface="Times New Roman"/>
              </a:rPr>
              <a:t>Materials</a:t>
            </a:r>
            <a:r>
              <a:rPr sz="650" spc="1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sz="650" spc="26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343434"/>
                </a:solidFill>
                <a:latin typeface="Times New Roman"/>
                <a:cs typeface="Times New Roman"/>
              </a:rPr>
              <a:t>m</a:t>
            </a:r>
            <a:r>
              <a:rPr sz="650" spc="55" dirty="0">
                <a:solidFill>
                  <a:srgbClr val="666666"/>
                </a:solidFill>
                <a:latin typeface="Times New Roman"/>
                <a:cs typeface="Times New Roman"/>
              </a:rPr>
              <a:t>e</a:t>
            </a:r>
            <a:r>
              <a:rPr sz="650" spc="55" dirty="0">
                <a:solidFill>
                  <a:srgbClr val="343434"/>
                </a:solidFill>
                <a:latin typeface="Times New Roman"/>
                <a:cs typeface="Times New Roman"/>
              </a:rPr>
              <a:t>th</a:t>
            </a:r>
            <a:r>
              <a:rPr sz="650" spc="55" dirty="0">
                <a:solidFill>
                  <a:srgbClr val="525252"/>
                </a:solidFill>
                <a:latin typeface="Times New Roman"/>
                <a:cs typeface="Times New Roman"/>
              </a:rPr>
              <a:t>ods</a:t>
            </a:r>
            <a:r>
              <a:rPr sz="650" spc="55" dirty="0">
                <a:solidFill>
                  <a:srgbClr val="7C7C7C"/>
                </a:solidFill>
                <a:latin typeface="Times New Roman"/>
                <a:cs typeface="Times New Roman"/>
              </a:rPr>
              <a:t>:</a:t>
            </a:r>
            <a:r>
              <a:rPr sz="650" spc="6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650" spc="1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Nationa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l</a:t>
            </a:r>
            <a:r>
              <a:rPr sz="650" spc="15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Electronic</a:t>
            </a:r>
            <a:r>
              <a:rPr sz="650" spc="13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Injury</a:t>
            </a:r>
            <a:r>
              <a:rPr sz="650" spc="-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Surveillance</a:t>
            </a:r>
            <a:r>
              <a:rPr sz="65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System</a:t>
            </a:r>
            <a:r>
              <a:rPr sz="65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909090"/>
                </a:solidFill>
                <a:latin typeface="Times New Roman"/>
                <a:cs typeface="Times New Roman"/>
              </a:rPr>
              <a:t>(NEISS)</a:t>
            </a:r>
            <a:r>
              <a:rPr sz="650" spc="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data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909090"/>
                </a:solidFill>
                <a:latin typeface="Times New Roman"/>
                <a:cs typeface="Times New Roman"/>
              </a:rPr>
              <a:t>was</a:t>
            </a:r>
            <a:r>
              <a:rPr sz="650" spc="-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used</a:t>
            </a:r>
            <a:r>
              <a:rPr sz="65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to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examine</a:t>
            </a:r>
            <a:r>
              <a:rPr sz="65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sz="650" spc="3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nationwide</a:t>
            </a:r>
            <a:r>
              <a:rPr sz="650" spc="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sample</a:t>
            </a:r>
            <a:r>
              <a:rPr sz="650" spc="16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of</a:t>
            </a:r>
            <a:r>
              <a:rPr sz="650" spc="21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emergency</a:t>
            </a:r>
            <a:r>
              <a:rPr sz="650" spc="1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department</a:t>
            </a:r>
            <a:r>
              <a:rPr sz="650" spc="31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records</a:t>
            </a:r>
            <a:r>
              <a:rPr sz="650" spc="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from</a:t>
            </a:r>
            <a:r>
              <a:rPr sz="650" spc="2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2013</a:t>
            </a:r>
            <a:r>
              <a:rPr sz="65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-</a:t>
            </a:r>
            <a:r>
              <a:rPr sz="650" spc="20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2021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r>
              <a:rPr sz="650" spc="16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Inverse</a:t>
            </a:r>
            <a:r>
              <a:rPr sz="650" spc="2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probability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samp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l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</a:t>
            </a:r>
            <a:r>
              <a:rPr sz="650" spc="2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weights</a:t>
            </a:r>
            <a:r>
              <a:rPr sz="650" spc="11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for</a:t>
            </a:r>
            <a:r>
              <a:rPr sz="650" spc="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cases</a:t>
            </a:r>
            <a:r>
              <a:rPr sz="650" spc="-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were</a:t>
            </a:r>
            <a:r>
              <a:rPr sz="65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applied</a:t>
            </a:r>
            <a:r>
              <a:rPr sz="650" spc="2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to</a:t>
            </a:r>
            <a:r>
              <a:rPr sz="650" spc="13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arrive</a:t>
            </a:r>
            <a:r>
              <a:rPr sz="65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at</a:t>
            </a:r>
            <a:r>
              <a:rPr sz="650" spc="3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national</a:t>
            </a:r>
            <a:r>
              <a:rPr sz="65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estimates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r>
              <a:rPr sz="650" spc="18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spc="-35" dirty="0">
                <a:solidFill>
                  <a:srgbClr val="909090"/>
                </a:solidFill>
                <a:latin typeface="Times New Roman"/>
                <a:cs typeface="Times New Roman"/>
              </a:rPr>
              <a:t>NEISS</a:t>
            </a:r>
            <a:r>
              <a:rPr sz="65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7C7C7C"/>
                </a:solidFill>
                <a:latin typeface="Times New Roman"/>
                <a:cs typeface="Times New Roman"/>
              </a:rPr>
              <a:t>data</a:t>
            </a:r>
            <a:r>
              <a:rPr sz="650" spc="15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included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A0A0A0"/>
                </a:solidFill>
                <a:latin typeface="Times New Roman"/>
                <a:cs typeface="Times New Roman"/>
              </a:rPr>
              <a:t>consumer</a:t>
            </a:r>
            <a:r>
              <a:rPr sz="650" spc="50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product</a:t>
            </a:r>
            <a:r>
              <a:rPr sz="65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650" spc="254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patient</a:t>
            </a:r>
            <a:r>
              <a:rPr sz="650" spc="8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700" i="1" spc="-30" dirty="0">
                <a:solidFill>
                  <a:srgbClr val="909090"/>
                </a:solidFill>
                <a:latin typeface="Arial"/>
                <a:cs typeface="Arial"/>
              </a:rPr>
              <a:t>age</a:t>
            </a:r>
            <a:r>
              <a:rPr sz="700" i="1" spc="-30" dirty="0">
                <a:solidFill>
                  <a:srgbClr val="B5B5B6"/>
                </a:solidFill>
                <a:latin typeface="Arial"/>
                <a:cs typeface="Arial"/>
              </a:rPr>
              <a:t>,</a:t>
            </a:r>
            <a:r>
              <a:rPr sz="700" i="1" spc="15" dirty="0">
                <a:solidFill>
                  <a:srgbClr val="B5B5B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sex.</a:t>
            </a:r>
            <a:r>
              <a:rPr sz="650" spc="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race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2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ethnicity,</a:t>
            </a:r>
            <a:r>
              <a:rPr sz="650" spc="5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909090"/>
                </a:solidFill>
                <a:latin typeface="Times New Roman"/>
                <a:cs typeface="Times New Roman"/>
              </a:rPr>
              <a:t>drug</a:t>
            </a:r>
            <a:r>
              <a:rPr sz="650" spc="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1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alcohol</a:t>
            </a:r>
            <a:r>
              <a:rPr sz="65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involvement,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diagnoses,</a:t>
            </a:r>
            <a:r>
              <a:rPr sz="650" spc="1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injury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descriptions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650" spc="12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170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emergency</a:t>
            </a:r>
            <a:r>
              <a:rPr sz="650" spc="2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department</a:t>
            </a:r>
            <a:r>
              <a:rPr sz="650" spc="254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dispos</a:t>
            </a:r>
            <a:r>
              <a:rPr sz="650" spc="-10" dirty="0">
                <a:solidFill>
                  <a:srgbClr val="666666"/>
                </a:solidFill>
                <a:latin typeface="Times New Roman"/>
                <a:cs typeface="Times New Roman"/>
              </a:rPr>
              <a:t>i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tion</a:t>
            </a:r>
            <a:r>
              <a:rPr sz="650" spc="-1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436" y="5287026"/>
            <a:ext cx="3734435" cy="780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350">
              <a:lnSpc>
                <a:spcPct val="121500"/>
              </a:lnSpc>
              <a:spcBef>
                <a:spcPts val="135"/>
              </a:spcBef>
            </a:pPr>
            <a:r>
              <a:rPr sz="650" dirty="0">
                <a:solidFill>
                  <a:srgbClr val="444444"/>
                </a:solidFill>
                <a:latin typeface="Times New Roman"/>
                <a:cs typeface="Times New Roman"/>
              </a:rPr>
              <a:t>Re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s</a:t>
            </a:r>
            <a:r>
              <a:rPr sz="650" dirty="0">
                <a:solidFill>
                  <a:srgbClr val="444444"/>
                </a:solidFill>
                <a:latin typeface="Times New Roman"/>
                <a:cs typeface="Times New Roman"/>
              </a:rPr>
              <a:t>ults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:</a:t>
            </a:r>
            <a:r>
              <a:rPr sz="650" spc="4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5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first</a:t>
            </a:r>
            <a:r>
              <a:rPr sz="650" spc="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VR-related</a:t>
            </a:r>
            <a:r>
              <a:rPr sz="650" spc="1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injury</a:t>
            </a:r>
            <a:r>
              <a:rPr sz="650" spc="6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was</a:t>
            </a:r>
            <a:r>
              <a:rPr sz="650" spc="2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reported</a:t>
            </a:r>
            <a:r>
              <a:rPr sz="650" spc="1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in</a:t>
            </a:r>
            <a:r>
              <a:rPr sz="650" spc="2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the</a:t>
            </a:r>
            <a:r>
              <a:rPr sz="650" spc="30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-35" dirty="0">
                <a:solidFill>
                  <a:srgbClr val="7C7C7C"/>
                </a:solidFill>
                <a:latin typeface="Times New Roman"/>
                <a:cs typeface="Times New Roman"/>
              </a:rPr>
              <a:t>NEISS</a:t>
            </a:r>
            <a:r>
              <a:rPr sz="650" spc="-1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55" dirty="0">
                <a:solidFill>
                  <a:srgbClr val="909090"/>
                </a:solidFill>
                <a:latin typeface="Times New Roman"/>
                <a:cs typeface="Times New Roman"/>
              </a:rPr>
              <a:t>data</a:t>
            </a:r>
            <a:r>
              <a:rPr sz="65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</a:t>
            </a:r>
            <a:r>
              <a:rPr sz="650" spc="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2017,</a:t>
            </a:r>
            <a:r>
              <a:rPr sz="650" spc="-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2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injuries</a:t>
            </a:r>
            <a:r>
              <a:rPr sz="650" spc="-3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909090"/>
                </a:solidFill>
                <a:latin typeface="Arial"/>
                <a:cs typeface="Arial"/>
              </a:rPr>
              <a:t>were</a:t>
            </a:r>
            <a:r>
              <a:rPr sz="700" i="1" spc="500" dirty="0">
                <a:solidFill>
                  <a:srgbClr val="909090"/>
                </a:solidFill>
                <a:latin typeface="Arial"/>
                <a:cs typeface="Arial"/>
              </a:rPr>
              <a:t> 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estimated</a:t>
            </a:r>
            <a:r>
              <a:rPr sz="65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to</a:t>
            </a:r>
            <a:r>
              <a:rPr sz="650" spc="1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number</a:t>
            </a:r>
            <a:r>
              <a:rPr sz="650" spc="1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125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.</a:t>
            </a:r>
            <a:r>
              <a:rPr sz="650" spc="90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Incidents</a:t>
            </a:r>
            <a:r>
              <a:rPr sz="650" spc="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of</a:t>
            </a:r>
            <a:r>
              <a:rPr sz="650" spc="17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VR-re</a:t>
            </a:r>
            <a:r>
              <a:rPr sz="650" dirty="0">
                <a:solidFill>
                  <a:srgbClr val="525252"/>
                </a:solidFill>
                <a:latin typeface="Times New Roman"/>
                <a:cs typeface="Times New Roman"/>
              </a:rPr>
              <a:t>l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ated</a:t>
            </a:r>
            <a:r>
              <a:rPr sz="650" spc="3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650" spc="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amplified</a:t>
            </a:r>
            <a:r>
              <a:rPr sz="650" spc="1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as</a:t>
            </a:r>
            <a:r>
              <a:rPr sz="650" spc="2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increased</a:t>
            </a:r>
            <a:r>
              <a:rPr sz="650" spc="10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-35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650" spc="7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units</a:t>
            </a:r>
            <a:r>
              <a:rPr sz="650" spc="5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sold,</a:t>
            </a:r>
            <a:r>
              <a:rPr sz="650" spc="4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16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by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2021,</a:t>
            </a:r>
            <a:r>
              <a:rPr sz="65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there</a:t>
            </a:r>
            <a:r>
              <a:rPr sz="650" spc="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70" dirty="0">
                <a:solidFill>
                  <a:srgbClr val="909090"/>
                </a:solidFill>
                <a:latin typeface="Times New Roman"/>
                <a:cs typeface="Times New Roman"/>
              </a:rPr>
              <a:t>wasa</a:t>
            </a:r>
            <a:r>
              <a:rPr sz="650" spc="1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352%</a:t>
            </a:r>
            <a:r>
              <a:rPr sz="650" spc="10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increase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</a:t>
            </a:r>
            <a:r>
              <a:rPr sz="650" spc="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35" dirty="0">
                <a:solidFill>
                  <a:srgbClr val="909090"/>
                </a:solidFill>
                <a:latin typeface="Times New Roman"/>
                <a:cs typeface="Times New Roman"/>
              </a:rPr>
              <a:t>VR</a:t>
            </a:r>
            <a:r>
              <a:rPr sz="650" spc="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650" spc="1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totaling</a:t>
            </a:r>
            <a:r>
              <a:rPr sz="650" spc="12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sz="650" spc="16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weighted</a:t>
            </a:r>
            <a:r>
              <a:rPr sz="650" spc="1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estimate</a:t>
            </a:r>
            <a:r>
              <a:rPr sz="650" spc="1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of</a:t>
            </a:r>
            <a:r>
              <a:rPr sz="650" spc="9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1,336</a:t>
            </a:r>
            <a:r>
              <a:rPr sz="650" spc="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ED</a:t>
            </a:r>
            <a:r>
              <a:rPr sz="65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visits.</a:t>
            </a:r>
            <a:r>
              <a:rPr sz="650" spc="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666666"/>
                </a:solidFill>
                <a:latin typeface="Times New Roman"/>
                <a:cs typeface="Times New Roman"/>
              </a:rPr>
              <a:t>T</a:t>
            </a:r>
            <a:r>
              <a:rPr sz="650" spc="-25" dirty="0">
                <a:solidFill>
                  <a:srgbClr val="909090"/>
                </a:solidFill>
                <a:latin typeface="Times New Roman"/>
                <a:cs typeface="Times New Roman"/>
              </a:rPr>
              <a:t>he</a:t>
            </a:r>
            <a:r>
              <a:rPr sz="650" spc="500" dirty="0">
                <a:solidFill>
                  <a:srgbClr val="909090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most</a:t>
            </a:r>
            <a:r>
              <a:rPr sz="65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common</a:t>
            </a:r>
            <a:r>
              <a:rPr sz="650" spc="15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VR-related</a:t>
            </a:r>
            <a:r>
              <a:rPr sz="650" spc="23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injury</a:t>
            </a:r>
            <a:r>
              <a:rPr sz="650" spc="8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diagnosis</a:t>
            </a:r>
            <a:r>
              <a:rPr sz="650" spc="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is</a:t>
            </a:r>
            <a:r>
              <a:rPr sz="650" spc="8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fracture</a:t>
            </a:r>
            <a:r>
              <a:rPr sz="65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(30.3%),</a:t>
            </a:r>
            <a:r>
              <a:rPr sz="650" spc="13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followed</a:t>
            </a:r>
            <a:r>
              <a:rPr sz="650" spc="229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by</a:t>
            </a:r>
            <a:r>
              <a:rPr sz="650" spc="1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laceration</a:t>
            </a:r>
            <a:r>
              <a:rPr sz="650" spc="2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(18.6%)</a:t>
            </a:r>
            <a:r>
              <a:rPr sz="650" spc="-1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650" spc="500" dirty="0">
                <a:solidFill>
                  <a:srgbClr val="B5B5B6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contusion</a:t>
            </a:r>
            <a:r>
              <a:rPr sz="650" spc="1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(13.9%),</a:t>
            </a:r>
            <a:r>
              <a:rPr sz="650" spc="7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other</a:t>
            </a:r>
            <a:r>
              <a:rPr sz="650" spc="2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(11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8%),</a:t>
            </a:r>
            <a:r>
              <a:rPr sz="650" spc="4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29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strain</a:t>
            </a:r>
            <a:r>
              <a:rPr sz="650" spc="55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909090"/>
                </a:solidFill>
                <a:latin typeface="Arial"/>
                <a:cs typeface="Arial"/>
              </a:rPr>
              <a:t>I</a:t>
            </a:r>
            <a:r>
              <a:rPr sz="700" i="1" spc="185" dirty="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spra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650" spc="6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(10.0%).</a:t>
            </a:r>
            <a:r>
              <a:rPr sz="650" spc="-1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VR-related</a:t>
            </a:r>
            <a:r>
              <a:rPr sz="650" spc="15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injuries</a:t>
            </a:r>
            <a:r>
              <a:rPr sz="65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invo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l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ve</a:t>
            </a:r>
            <a:r>
              <a:rPr sz="650" spc="14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the</a:t>
            </a:r>
            <a:r>
              <a:rPr sz="650" spc="30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spc="-20" dirty="0">
                <a:solidFill>
                  <a:srgbClr val="7C7C7C"/>
                </a:solidFill>
                <a:latin typeface="Times New Roman"/>
                <a:cs typeface="Times New Roman"/>
              </a:rPr>
              <a:t>hand</a:t>
            </a:r>
            <a:r>
              <a:rPr sz="650" spc="50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(12.1%),</a:t>
            </a:r>
            <a:r>
              <a:rPr sz="650" spc="7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700" i="1" spc="-50" dirty="0">
                <a:solidFill>
                  <a:srgbClr val="909090"/>
                </a:solidFill>
                <a:latin typeface="Arial"/>
                <a:cs typeface="Arial"/>
              </a:rPr>
              <a:t>face</a:t>
            </a:r>
            <a:r>
              <a:rPr sz="700" i="1" dirty="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(11.5%),</a:t>
            </a:r>
            <a:r>
              <a:rPr sz="650" spc="2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finger</a:t>
            </a:r>
            <a:r>
              <a:rPr sz="650" spc="-5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(10.6%),</a:t>
            </a:r>
            <a:r>
              <a:rPr sz="650" spc="3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and</a:t>
            </a:r>
            <a:r>
              <a:rPr sz="650" spc="28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k</a:t>
            </a:r>
            <a:r>
              <a:rPr sz="650" dirty="0">
                <a:solidFill>
                  <a:srgbClr val="666666"/>
                </a:solidFill>
                <a:latin typeface="Times New Roman"/>
                <a:cs typeface="Times New Roman"/>
              </a:rPr>
              <a:t>nee</a:t>
            </a:r>
            <a:r>
              <a:rPr sz="650" spc="11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(9.0%)</a:t>
            </a:r>
            <a:r>
              <a:rPr sz="650" dirty="0">
                <a:solidFill>
                  <a:srgbClr val="B5B5B6"/>
                </a:solidFill>
                <a:latin typeface="Times New Roman"/>
                <a:cs typeface="Times New Roman"/>
              </a:rPr>
              <a:t>,</a:t>
            </a:r>
            <a:r>
              <a:rPr sz="650" spc="95" dirty="0">
                <a:solidFill>
                  <a:srgbClr val="B5B5B6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C7C7C"/>
                </a:solidFill>
                <a:latin typeface="Times New Roman"/>
                <a:cs typeface="Times New Roman"/>
              </a:rPr>
              <a:t>head</a:t>
            </a:r>
            <a:r>
              <a:rPr sz="650" spc="100" dirty="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09090"/>
                </a:solidFill>
                <a:latin typeface="Times New Roman"/>
                <a:cs typeface="Times New Roman"/>
              </a:rPr>
              <a:t>(7.0%)</a:t>
            </a:r>
            <a:r>
              <a:rPr sz="650" spc="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and</a:t>
            </a:r>
            <a:r>
              <a:rPr sz="650" spc="310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upper</a:t>
            </a:r>
            <a:r>
              <a:rPr sz="650" spc="15" dirty="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909090"/>
                </a:solidFill>
                <a:latin typeface="Times New Roman"/>
                <a:cs typeface="Times New Roman"/>
              </a:rPr>
              <a:t>trunk </a:t>
            </a:r>
            <a:r>
              <a:rPr sz="650" dirty="0">
                <a:solidFill>
                  <a:srgbClr val="A0A0A0"/>
                </a:solidFill>
                <a:latin typeface="Times New Roman"/>
                <a:cs typeface="Times New Roman"/>
              </a:rPr>
              <a:t>(7.0%).</a:t>
            </a:r>
            <a:r>
              <a:rPr sz="650" spc="20" dirty="0">
                <a:solidFill>
                  <a:srgbClr val="A0A0A0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7C7C7C"/>
                </a:solidFill>
                <a:latin typeface="Times New Roman"/>
                <a:cs typeface="Times New Roman"/>
              </a:rPr>
              <a:t>Patients</a:t>
            </a:r>
            <a:endParaRPr sz="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5804"/>
            <a:ext cx="10058400" cy="56840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81718" y="2851521"/>
            <a:ext cx="14160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5" dirty="0">
                <a:solidFill>
                  <a:srgbClr val="A5A8A8"/>
                </a:solidFill>
                <a:latin typeface="Times New Roman"/>
                <a:cs typeface="Times New Roman"/>
              </a:rPr>
              <a:t>600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617" y="3193301"/>
            <a:ext cx="16065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0" dirty="0">
                <a:solidFill>
                  <a:srgbClr val="A5A8A8"/>
                </a:solidFill>
                <a:latin typeface="Times New Roman"/>
                <a:cs typeface="Times New Roman"/>
              </a:rPr>
              <a:t>5.00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613" y="3529823"/>
            <a:ext cx="15049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0" dirty="0">
                <a:solidFill>
                  <a:srgbClr val="909393"/>
                </a:solidFill>
                <a:latin typeface="Times New Roman"/>
                <a:cs typeface="Times New Roman"/>
              </a:rPr>
              <a:t>4</a:t>
            </a:r>
            <a:r>
              <a:rPr sz="550" spc="-20" dirty="0">
                <a:solidFill>
                  <a:srgbClr val="B3B6B8"/>
                </a:solidFill>
                <a:latin typeface="Times New Roman"/>
                <a:cs typeface="Times New Roman"/>
              </a:rPr>
              <a:t>.</a:t>
            </a:r>
            <a:r>
              <a:rPr sz="550" spc="-20" dirty="0">
                <a:solidFill>
                  <a:srgbClr val="909393"/>
                </a:solidFill>
                <a:latin typeface="Times New Roman"/>
                <a:cs typeface="Times New Roman"/>
              </a:rPr>
              <a:t>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560" y="3705204"/>
            <a:ext cx="5080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dirty="0">
                <a:solidFill>
                  <a:srgbClr val="565B5B"/>
                </a:solidFill>
                <a:latin typeface="Arial"/>
                <a:cs typeface="Arial"/>
              </a:rPr>
              <a:t>!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175" y="3784479"/>
            <a:ext cx="5461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dirty="0">
                <a:solidFill>
                  <a:srgbClr val="696E6E"/>
                </a:solidFill>
                <a:latin typeface="Times New Roman"/>
                <a:cs typeface="Times New Roman"/>
              </a:rPr>
              <a:t>0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901" y="3807702"/>
            <a:ext cx="3365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75" spc="-104" baseline="5291" dirty="0">
                <a:solidFill>
                  <a:srgbClr val="696E6E"/>
                </a:solidFill>
                <a:latin typeface="Arial"/>
                <a:cs typeface="Arial"/>
              </a:rPr>
              <a:t>.x</a:t>
            </a:r>
            <a:r>
              <a:rPr sz="1575" spc="7" baseline="5291" dirty="0">
                <a:solidFill>
                  <a:srgbClr val="696E6E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A5A8A8"/>
                </a:solidFill>
                <a:latin typeface="Times New Roman"/>
                <a:cs typeface="Times New Roman"/>
              </a:rPr>
              <a:t>3.00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214" y="3690745"/>
            <a:ext cx="97790" cy="4089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00" spc="-130" dirty="0">
                <a:solidFill>
                  <a:srgbClr val="696E6E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743" y="3895958"/>
            <a:ext cx="15113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25" spc="-60" baseline="-11111" dirty="0">
                <a:solidFill>
                  <a:srgbClr val="565B5B"/>
                </a:solidFill>
                <a:latin typeface="Times New Roman"/>
                <a:cs typeface="Times New Roman"/>
              </a:rPr>
              <a:t>c</a:t>
            </a:r>
            <a:r>
              <a:rPr sz="1100" spc="-40" dirty="0">
                <a:solidFill>
                  <a:srgbClr val="565B5B"/>
                </a:solidFill>
                <a:latin typeface="Arial"/>
                <a:cs typeface="Arial"/>
              </a:rPr>
              <a:t>"'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3262" y="4213383"/>
            <a:ext cx="16446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0" dirty="0">
                <a:solidFill>
                  <a:srgbClr val="A5A8A8"/>
                </a:solidFill>
                <a:latin typeface="Times New Roman"/>
                <a:cs typeface="Times New Roman"/>
              </a:rPr>
              <a:t>2.00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6196" y="4539388"/>
            <a:ext cx="15367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dirty="0">
                <a:solidFill>
                  <a:srgbClr val="A5A8A8"/>
                </a:solidFill>
                <a:latin typeface="Times New Roman"/>
                <a:cs typeface="Times New Roman"/>
              </a:rPr>
              <a:t>,</a:t>
            </a:r>
            <a:r>
              <a:rPr sz="550" spc="100" dirty="0">
                <a:solidFill>
                  <a:srgbClr val="A5A8A8"/>
                </a:solidFill>
                <a:latin typeface="Times New Roman"/>
                <a:cs typeface="Times New Roman"/>
              </a:rPr>
              <a:t> </a:t>
            </a:r>
            <a:r>
              <a:rPr sz="550" spc="-35" dirty="0">
                <a:solidFill>
                  <a:srgbClr val="A5A8A8"/>
                </a:solidFill>
                <a:latin typeface="Times New Roman"/>
                <a:cs typeface="Times New Roman"/>
              </a:rPr>
              <a:t>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2209" y="4891685"/>
            <a:ext cx="14478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5" dirty="0">
                <a:solidFill>
                  <a:srgbClr val="B3B6B8"/>
                </a:solidFill>
                <a:latin typeface="Times New Roman"/>
                <a:cs typeface="Times New Roman"/>
              </a:rPr>
              <a:t>000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6922" y="5089962"/>
            <a:ext cx="1936114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 indent="-159385">
              <a:lnSpc>
                <a:spcPct val="100000"/>
              </a:lnSpc>
              <a:spcBef>
                <a:spcPts val="105"/>
              </a:spcBef>
              <a:buClr>
                <a:srgbClr val="3B82F6"/>
              </a:buClr>
              <a:buChar char="•"/>
              <a:tabLst>
                <a:tab pos="172085" algn="l"/>
              </a:tabLst>
            </a:pPr>
            <a:r>
              <a:rPr sz="850" spc="110" dirty="0">
                <a:solidFill>
                  <a:srgbClr val="909393"/>
                </a:solidFill>
                <a:latin typeface="Times New Roman"/>
                <a:cs typeface="Times New Roman"/>
              </a:rPr>
              <a:t>ff</a:t>
            </a:r>
            <a:r>
              <a:rPr sz="850" spc="140" dirty="0">
                <a:solidFill>
                  <a:srgbClr val="909393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09393"/>
                </a:solidFill>
                <a:latin typeface="Times New Roman"/>
                <a:cs typeface="Times New Roman"/>
              </a:rPr>
              <a:t>I</a:t>
            </a:r>
            <a:r>
              <a:rPr sz="600" dirty="0">
                <a:solidFill>
                  <a:srgbClr val="909393"/>
                </a:solidFill>
                <a:latin typeface="Arial"/>
                <a:cs typeface="Arial"/>
              </a:rPr>
              <a:t>(Perceived</a:t>
            </a:r>
            <a:r>
              <a:rPr sz="600" spc="20" dirty="0">
                <a:solidFill>
                  <a:srgbClr val="90939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909393"/>
                </a:solidFill>
                <a:latin typeface="Arial"/>
                <a:cs typeface="Arial"/>
              </a:rPr>
              <a:t>Safety)</a:t>
            </a:r>
            <a:r>
              <a:rPr sz="600" spc="220" dirty="0">
                <a:solidFill>
                  <a:srgbClr val="909393"/>
                </a:solidFill>
                <a:latin typeface="Arial"/>
                <a:cs typeface="Arial"/>
              </a:rPr>
              <a:t>  </a:t>
            </a:r>
            <a:r>
              <a:rPr sz="600" dirty="0">
                <a:solidFill>
                  <a:srgbClr val="0FB880"/>
                </a:solidFill>
                <a:latin typeface="Arial"/>
                <a:cs typeface="Arial"/>
              </a:rPr>
              <a:t>•</a:t>
            </a:r>
            <a:r>
              <a:rPr sz="600" spc="275" dirty="0">
                <a:solidFill>
                  <a:srgbClr val="0FB880"/>
                </a:solidFill>
                <a:latin typeface="Arial"/>
                <a:cs typeface="Arial"/>
              </a:rPr>
              <a:t>  </a:t>
            </a:r>
            <a:r>
              <a:rPr sz="850" spc="365" dirty="0">
                <a:solidFill>
                  <a:srgbClr val="A5A8A8"/>
                </a:solidFill>
                <a:latin typeface="Times New Roman"/>
                <a:cs typeface="Times New Roman"/>
              </a:rPr>
              <a:t>It</a:t>
            </a:r>
            <a:r>
              <a:rPr sz="850" spc="170" dirty="0">
                <a:solidFill>
                  <a:srgbClr val="A5A8A8"/>
                </a:solidFill>
                <a:latin typeface="Times New Roman"/>
                <a:cs typeface="Times New Roman"/>
              </a:rPr>
              <a:t>  </a:t>
            </a:r>
            <a:r>
              <a:rPr sz="600" spc="-10" dirty="0">
                <a:solidFill>
                  <a:srgbClr val="A5A8A8"/>
                </a:solidFill>
                <a:latin typeface="Arial"/>
                <a:cs typeface="Arial"/>
              </a:rPr>
              <a:t>(</a:t>
            </a:r>
            <a:r>
              <a:rPr sz="600" spc="-10" dirty="0">
                <a:solidFill>
                  <a:srgbClr val="696E6E"/>
                </a:solidFill>
                <a:latin typeface="Arial"/>
                <a:cs typeface="Arial"/>
              </a:rPr>
              <a:t>l</a:t>
            </a:r>
            <a:r>
              <a:rPr sz="600" spc="-10" dirty="0">
                <a:solidFill>
                  <a:srgbClr val="909393"/>
                </a:solidFill>
                <a:latin typeface="Arial"/>
                <a:cs typeface="Arial"/>
              </a:rPr>
              <a:t>mmen;ion)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576</Words>
  <Application>Microsoft Office PowerPoint</Application>
  <PresentationFormat>Benutzerdefiniert</PresentationFormat>
  <Paragraphs>20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2026-09-26T12:18:33Z</dcterms:created>
  <dcterms:modified xsi:type="dcterms:W3CDTF">2026-09-26T12:18:35Z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2026-09-26T00:00:00Z</vt:filetime>
  </property>
  <property fmtid="{D5CDD505-2E9C-101B-9397-08002B2CF9AE}" pid="3" name="LastSaved">
    <vt:filetime>2026-09-26T00:00:00Z</vt:filetime>
  </property>
</Properties>
</file>